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6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jaldubey9@gmail.com" userId="fb27faac0d2f5624" providerId="LiveId" clId="{862B588B-446E-4264-9CE5-C3237F3F4B40}"/>
    <pc:docChg chg="undo redo custSel addSld delSld modSld addMainMaster delMainMaster modMainMaster">
      <pc:chgData name="srajaldubey9@gmail.com" userId="fb27faac0d2f5624" providerId="LiveId" clId="{862B588B-446E-4264-9CE5-C3237F3F4B40}" dt="2026-01-10T13:51:43.651" v="308" actId="1076"/>
      <pc:docMkLst>
        <pc:docMk/>
      </pc:docMkLst>
      <pc:sldChg chg="modSp mod setBg">
        <pc:chgData name="srajaldubey9@gmail.com" userId="fb27faac0d2f5624" providerId="LiveId" clId="{862B588B-446E-4264-9CE5-C3237F3F4B40}" dt="2026-01-09T04:23:02.115" v="256"/>
        <pc:sldMkLst>
          <pc:docMk/>
          <pc:sldMk cId="0" sldId="256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srajaldubey9@gmail.com" userId="fb27faac0d2f5624" providerId="LiveId" clId="{862B588B-446E-4264-9CE5-C3237F3F4B40}" dt="2026-01-09T04:23:02.115" v="256"/>
        <pc:sldMkLst>
          <pc:docMk/>
          <pc:sldMk cId="0" sldId="257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srajaldubey9@gmail.com" userId="fb27faac0d2f5624" providerId="LiveId" clId="{862B588B-446E-4264-9CE5-C3237F3F4B40}" dt="2026-01-09T04:23:02.115" v="256"/>
        <pc:sldMkLst>
          <pc:docMk/>
          <pc:sldMk cId="0" sldId="258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rajaldubey9@gmail.com" userId="fb27faac0d2f5624" providerId="LiveId" clId="{862B588B-446E-4264-9CE5-C3237F3F4B40}" dt="2026-01-09T04:23:02.115" v="256"/>
        <pc:sldMkLst>
          <pc:docMk/>
          <pc:sldMk cId="0" sldId="259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srajaldubey9@gmail.com" userId="fb27faac0d2f5624" providerId="LiveId" clId="{862B588B-446E-4264-9CE5-C3237F3F4B40}" dt="2026-01-09T04:23:02.115" v="256"/>
        <pc:sldMkLst>
          <pc:docMk/>
          <pc:sldMk cId="0" sldId="261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rajaldubey9@gmail.com" userId="fb27faac0d2f5624" providerId="LiveId" clId="{862B588B-446E-4264-9CE5-C3237F3F4B40}" dt="2026-01-09T04:23:02.115" v="256"/>
        <pc:sldMkLst>
          <pc:docMk/>
          <pc:sldMk cId="0" sldId="262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srajaldubey9@gmail.com" userId="fb27faac0d2f5624" providerId="LiveId" clId="{862B588B-446E-4264-9CE5-C3237F3F4B40}" dt="2026-01-09T04:23:02.115" v="256"/>
        <pc:sldMkLst>
          <pc:docMk/>
          <pc:sldMk cId="0" sldId="263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3"/>
            <ac:spMk id="2" creationId="{00000000-0000-0000-0000-000000000000}"/>
          </ac:spMkLst>
        </pc:spChg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srajaldubey9@gmail.com" userId="fb27faac0d2f5624" providerId="LiveId" clId="{862B588B-446E-4264-9CE5-C3237F3F4B40}" dt="2026-01-09T04:33:24.982" v="287" actId="14100"/>
        <pc:sldMkLst>
          <pc:docMk/>
          <pc:sldMk cId="0" sldId="264"/>
        </pc:sldMkLst>
        <pc:spChg chg="mod">
          <ac:chgData name="srajaldubey9@gmail.com" userId="fb27faac0d2f5624" providerId="LiveId" clId="{862B588B-446E-4264-9CE5-C3237F3F4B40}" dt="2026-01-09T04:33:09.367" v="285" actId="1076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srajaldubey9@gmail.com" userId="fb27faac0d2f5624" providerId="LiveId" clId="{862B588B-446E-4264-9CE5-C3237F3F4B40}" dt="2026-01-09T04:32:59.436" v="283" actId="12084"/>
          <ac:spMkLst>
            <pc:docMk/>
            <pc:sldMk cId="0" sldId="264"/>
            <ac:spMk id="3" creationId="{00000000-0000-0000-0000-000000000000}"/>
          </ac:spMkLst>
        </pc:spChg>
        <pc:graphicFrameChg chg="add mod">
          <ac:chgData name="srajaldubey9@gmail.com" userId="fb27faac0d2f5624" providerId="LiveId" clId="{862B588B-446E-4264-9CE5-C3237F3F4B40}" dt="2026-01-09T04:33:24.982" v="287" actId="14100"/>
          <ac:graphicFrameMkLst>
            <pc:docMk/>
            <pc:sldMk cId="0" sldId="264"/>
            <ac:graphicFrameMk id="4" creationId="{4DECECCB-07C6-CFD9-A81E-AF8570580413}"/>
          </ac:graphicFrameMkLst>
        </pc:graphicFrameChg>
      </pc:sldChg>
      <pc:sldChg chg="addSp delSp modSp mod modTransition setBg">
        <pc:chgData name="srajaldubey9@gmail.com" userId="fb27faac0d2f5624" providerId="LiveId" clId="{862B588B-446E-4264-9CE5-C3237F3F4B40}" dt="2026-01-09T04:23:02.115" v="256"/>
        <pc:sldMkLst>
          <pc:docMk/>
          <pc:sldMk cId="0" sldId="265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srajaldubey9@gmail.com" userId="fb27faac0d2f5624" providerId="LiveId" clId="{862B588B-446E-4264-9CE5-C3237F3F4B40}" dt="2026-01-09T04:15:47.239" v="239" actId="12084"/>
          <ac:spMkLst>
            <pc:docMk/>
            <pc:sldMk cId="0" sldId="265"/>
            <ac:spMk id="3" creationId="{00000000-0000-0000-0000-000000000000}"/>
          </ac:spMkLst>
        </pc:spChg>
        <pc:graphicFrameChg chg="add mod">
          <ac:chgData name="srajaldubey9@gmail.com" userId="fb27faac0d2f5624" providerId="LiveId" clId="{862B588B-446E-4264-9CE5-C3237F3F4B40}" dt="2026-01-09T04:16:18.562" v="243" actId="1076"/>
          <ac:graphicFrameMkLst>
            <pc:docMk/>
            <pc:sldMk cId="0" sldId="265"/>
            <ac:graphicFrameMk id="4" creationId="{54C8656A-59E4-D814-D468-BA242FA62ACA}"/>
          </ac:graphicFrameMkLst>
        </pc:graphicFrameChg>
      </pc:sldChg>
      <pc:sldChg chg="addSp delSp modSp new mod modClrScheme chgLayout">
        <pc:chgData name="srajaldubey9@gmail.com" userId="fb27faac0d2f5624" providerId="LiveId" clId="{862B588B-446E-4264-9CE5-C3237F3F4B40}" dt="2026-01-09T04:29:57.222" v="278" actId="14100"/>
        <pc:sldMkLst>
          <pc:docMk/>
          <pc:sldMk cId="1431706835" sldId="266"/>
        </pc:sldMkLst>
        <pc:spChg chg="add mod">
          <ac:chgData name="srajaldubey9@gmail.com" userId="fb27faac0d2f5624" providerId="LiveId" clId="{862B588B-446E-4264-9CE5-C3237F3F4B40}" dt="2026-01-08T18:05:48.175" v="161" actId="1076"/>
          <ac:spMkLst>
            <pc:docMk/>
            <pc:sldMk cId="1431706835" sldId="266"/>
            <ac:spMk id="2" creationId="{640AE6C9-F08A-7BB8-AF25-E6B20C13A76F}"/>
          </ac:spMkLst>
        </pc:spChg>
        <pc:spChg chg="add mod">
          <ac:chgData name="srajaldubey9@gmail.com" userId="fb27faac0d2f5624" providerId="LiveId" clId="{862B588B-446E-4264-9CE5-C3237F3F4B40}" dt="2026-01-09T04:29:57.222" v="278" actId="14100"/>
          <ac:spMkLst>
            <pc:docMk/>
            <pc:sldMk cId="1431706835" sldId="266"/>
            <ac:spMk id="4" creationId="{470FE469-7517-0152-F2A8-67AE5F3F965E}"/>
          </ac:spMkLst>
        </pc:spChg>
        <pc:spChg chg="add del mod">
          <ac:chgData name="srajaldubey9@gmail.com" userId="fb27faac0d2f5624" providerId="LiveId" clId="{862B588B-446E-4264-9CE5-C3237F3F4B40}" dt="2026-01-09T04:29:44.315" v="275" actId="14100"/>
          <ac:spMkLst>
            <pc:docMk/>
            <pc:sldMk cId="1431706835" sldId="266"/>
            <ac:spMk id="6" creationId="{FDC0E69E-68C3-8A5A-6B8B-D8BE2807B6B4}"/>
          </ac:spMkLst>
        </pc:spChg>
        <pc:spChg chg="add del mod">
          <ac:chgData name="srajaldubey9@gmail.com" userId="fb27faac0d2f5624" providerId="LiveId" clId="{862B588B-446E-4264-9CE5-C3237F3F4B40}" dt="2026-01-09T04:10:21.993" v="223" actId="12084"/>
          <ac:spMkLst>
            <pc:docMk/>
            <pc:sldMk cId="1431706835" sldId="266"/>
            <ac:spMk id="12" creationId="{DAEB1D54-1B67-AD4F-7B64-466B557B34F7}"/>
          </ac:spMkLst>
        </pc:spChg>
        <pc:graphicFrameChg chg="add del mod">
          <ac:chgData name="srajaldubey9@gmail.com" userId="fb27faac0d2f5624" providerId="LiveId" clId="{862B588B-446E-4264-9CE5-C3237F3F4B40}" dt="2026-01-09T04:29:24.677" v="273" actId="11529"/>
          <ac:graphicFrameMkLst>
            <pc:docMk/>
            <pc:sldMk cId="1431706835" sldId="266"/>
            <ac:graphicFrameMk id="3" creationId="{D17847CC-ECA9-2E80-9F5F-B14E93660D25}"/>
          </ac:graphicFrameMkLst>
        </pc:graphicFrameChg>
      </pc:sldChg>
      <pc:sldChg chg="addSp delSp modSp new mod setBg">
        <pc:chgData name="srajaldubey9@gmail.com" userId="fb27faac0d2f5624" providerId="LiveId" clId="{862B588B-446E-4264-9CE5-C3237F3F4B40}" dt="2026-01-09T04:30:46.186" v="282" actId="14100"/>
        <pc:sldMkLst>
          <pc:docMk/>
          <pc:sldMk cId="3175684981" sldId="267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3175684981" sldId="267"/>
            <ac:spMk id="2" creationId="{69D23E57-30B6-D22D-03E3-806F3710E247}"/>
          </ac:spMkLst>
        </pc:spChg>
        <pc:spChg chg="add del mod">
          <ac:chgData name="srajaldubey9@gmail.com" userId="fb27faac0d2f5624" providerId="LiveId" clId="{862B588B-446E-4264-9CE5-C3237F3F4B40}" dt="2026-01-09T04:25:08.360" v="259" actId="21"/>
          <ac:spMkLst>
            <pc:docMk/>
            <pc:sldMk cId="3175684981" sldId="267"/>
            <ac:spMk id="3" creationId="{BED8BD63-C824-2BEA-3617-0C65BDAFAC1B}"/>
          </ac:spMkLst>
        </pc:spChg>
        <pc:spChg chg="add del mod">
          <ac:chgData name="srajaldubey9@gmail.com" userId="fb27faac0d2f5624" providerId="LiveId" clId="{862B588B-446E-4264-9CE5-C3237F3F4B40}" dt="2026-01-09T04:30:35.239" v="280" actId="12084"/>
          <ac:spMkLst>
            <pc:docMk/>
            <pc:sldMk cId="3175684981" sldId="267"/>
            <ac:spMk id="4" creationId="{4848E2E4-5898-8A7D-B5C5-B1B3F48FDFB9}"/>
          </ac:spMkLst>
        </pc:spChg>
        <pc:spChg chg="add del">
          <ac:chgData name="srajaldubey9@gmail.com" userId="fb27faac0d2f5624" providerId="LiveId" clId="{862B588B-446E-4264-9CE5-C3237F3F4B40}" dt="2026-01-09T04:25:29.935" v="261" actId="11529"/>
          <ac:spMkLst>
            <pc:docMk/>
            <pc:sldMk cId="3175684981" sldId="267"/>
            <ac:spMk id="5" creationId="{9A4C58E9-85F1-6DBD-DC96-E4A8BC44397E}"/>
          </ac:spMkLst>
        </pc:spChg>
        <pc:spChg chg="add mod">
          <ac:chgData name="srajaldubey9@gmail.com" userId="fb27faac0d2f5624" providerId="LiveId" clId="{862B588B-446E-4264-9CE5-C3237F3F4B40}" dt="2026-01-09T04:30:46.186" v="282" actId="14100"/>
          <ac:spMkLst>
            <pc:docMk/>
            <pc:sldMk cId="3175684981" sldId="267"/>
            <ac:spMk id="7" creationId="{1B689594-C898-09E3-90AA-C61134A3C602}"/>
          </ac:spMkLst>
        </pc:spChg>
        <pc:graphicFrameChg chg="add del mod">
          <ac:chgData name="srajaldubey9@gmail.com" userId="fb27faac0d2f5624" providerId="LiveId" clId="{862B588B-446E-4264-9CE5-C3237F3F4B40}" dt="2026-01-09T04:30:39.444" v="281" actId="11529"/>
          <ac:graphicFrameMkLst>
            <pc:docMk/>
            <pc:sldMk cId="3175684981" sldId="267"/>
            <ac:graphicFrameMk id="6" creationId="{5CEE5ABA-6DB2-94E9-167C-D51504ACC92A}"/>
          </ac:graphicFrameMkLst>
        </pc:graphicFrameChg>
      </pc:sldChg>
      <pc:sldChg chg="addSp delSp modSp new mod">
        <pc:chgData name="srajaldubey9@gmail.com" userId="fb27faac0d2f5624" providerId="LiveId" clId="{862B588B-446E-4264-9CE5-C3237F3F4B40}" dt="2026-01-10T13:51:43.651" v="308" actId="1076"/>
        <pc:sldMkLst>
          <pc:docMk/>
          <pc:sldMk cId="4233883818" sldId="268"/>
        </pc:sldMkLst>
        <pc:spChg chg="mod">
          <ac:chgData name="srajaldubey9@gmail.com" userId="fb27faac0d2f5624" providerId="LiveId" clId="{862B588B-446E-4264-9CE5-C3237F3F4B40}" dt="2026-01-09T04:23:02.115" v="256"/>
          <ac:spMkLst>
            <pc:docMk/>
            <pc:sldMk cId="4233883818" sldId="268"/>
            <ac:spMk id="2" creationId="{0D01E908-102D-E2C2-2DF5-BED217BAD3DF}"/>
          </ac:spMkLst>
        </pc:spChg>
        <pc:spChg chg="add mod">
          <ac:chgData name="srajaldubey9@gmail.com" userId="fb27faac0d2f5624" providerId="LiveId" clId="{862B588B-446E-4264-9CE5-C3237F3F4B40}" dt="2026-01-10T13:51:43.651" v="308" actId="1076"/>
          <ac:spMkLst>
            <pc:docMk/>
            <pc:sldMk cId="4233883818" sldId="268"/>
            <ac:spMk id="3" creationId="{10F49A1D-EFFA-0AD8-3809-BE1414754DDE}"/>
          </ac:spMkLst>
        </pc:spChg>
        <pc:spChg chg="add mod">
          <ac:chgData name="srajaldubey9@gmail.com" userId="fb27faac0d2f5624" providerId="LiveId" clId="{862B588B-446E-4264-9CE5-C3237F3F4B40}" dt="2026-01-09T04:28:30.232" v="268" actId="207"/>
          <ac:spMkLst>
            <pc:docMk/>
            <pc:sldMk cId="4233883818" sldId="268"/>
            <ac:spMk id="4" creationId="{62F6ECE8-96C0-47B0-8E54-41380EA55DB9}"/>
          </ac:spMkLst>
        </pc:spChg>
        <pc:picChg chg="add mod">
          <ac:chgData name="srajaldubey9@gmail.com" userId="fb27faac0d2f5624" providerId="LiveId" clId="{862B588B-446E-4264-9CE5-C3237F3F4B40}" dt="2026-01-10T13:51:34.931" v="307" actId="14100"/>
          <ac:picMkLst>
            <pc:docMk/>
            <pc:sldMk cId="4233883818" sldId="268"/>
            <ac:picMk id="6" creationId="{73ED7D8B-5F43-2BCC-F2B0-FB66D73FE5BF}"/>
          </ac:picMkLst>
        </pc:picChg>
      </pc:sldChg>
      <pc:sldMasterChg chg="new del mod addSldLayout delSldLayout">
        <pc:chgData name="srajaldubey9@gmail.com" userId="fb27faac0d2f5624" providerId="LiveId" clId="{862B588B-446E-4264-9CE5-C3237F3F4B40}" dt="2026-01-09T03:58:34.471" v="209" actId="6938"/>
        <pc:sldMasterMkLst>
          <pc:docMk/>
          <pc:sldMasterMk cId="1803331260" sldId="2147483924"/>
        </pc:sldMasterMkLst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3783383711" sldId="2147483925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220187168" sldId="2147483926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1691317984" sldId="2147483927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4027213414" sldId="2147483928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4228799963" sldId="2147483929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251946251" sldId="2147483930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913001296" sldId="2147483931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859356357" sldId="2147483932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3112333062" sldId="2147483933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2385955476" sldId="2147483934"/>
          </pc:sldLayoutMkLst>
        </pc:sldLayoutChg>
        <pc:sldLayoutChg chg="new del replId">
          <pc:chgData name="srajaldubey9@gmail.com" userId="fb27faac0d2f5624" providerId="LiveId" clId="{862B588B-446E-4264-9CE5-C3237F3F4B40}" dt="2026-01-09T03:58:34.471" v="209" actId="6938"/>
          <pc:sldLayoutMkLst>
            <pc:docMk/>
            <pc:sldMasterMk cId="1803331260" sldId="2147483924"/>
            <pc:sldLayoutMk cId="2222188608" sldId="2147483935"/>
          </pc:sldLayoutMkLst>
        </pc:sldLayoutChg>
      </pc:sldMasterChg>
      <pc:sldMasterChg chg="new del mod addSldLayout delSldLayout">
        <pc:chgData name="srajaldubey9@gmail.com" userId="fb27faac0d2f5624" providerId="LiveId" clId="{862B588B-446E-4264-9CE5-C3237F3F4B40}" dt="2026-01-09T03:58:33.569" v="208" actId="6938"/>
        <pc:sldMasterMkLst>
          <pc:docMk/>
          <pc:sldMasterMk cId="3864435747" sldId="2147483936"/>
        </pc:sldMasterMkLst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4271398093" sldId="2147483937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335062859" sldId="2147483938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2499860298" sldId="2147483939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2895515294" sldId="2147483940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1335227166" sldId="2147483941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1889400956" sldId="2147483942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1054465086" sldId="2147483943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12124536" sldId="2147483944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1230898227" sldId="2147483945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3111000613" sldId="2147483946"/>
          </pc:sldLayoutMkLst>
        </pc:sldLayoutChg>
        <pc:sldLayoutChg chg="new del replId">
          <pc:chgData name="srajaldubey9@gmail.com" userId="fb27faac0d2f5624" providerId="LiveId" clId="{862B588B-446E-4264-9CE5-C3237F3F4B40}" dt="2026-01-09T03:58:33.569" v="208" actId="6938"/>
          <pc:sldLayoutMkLst>
            <pc:docMk/>
            <pc:sldMasterMk cId="3864435747" sldId="2147483936"/>
            <pc:sldLayoutMk cId="3407832718" sldId="214748394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545032-186D-4CE4-A794-4752C2FA4E2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29CE758-0908-4A0A-94A3-B47304CAC768}">
      <dgm:prSet/>
      <dgm:spPr/>
      <dgm:t>
        <a:bodyPr/>
        <a:lstStyle/>
        <a:p>
          <a:r>
            <a:rPr lang="en-IN" b="0" i="0"/>
            <a:t>Fed rate regimes matter more than rate levels</a:t>
          </a:r>
          <a:endParaRPr lang="en-IN"/>
        </a:p>
      </dgm:t>
    </dgm:pt>
    <dgm:pt modelId="{B196EC06-5328-4CCD-9C87-90DDF526A70D}" type="parTrans" cxnId="{086C084D-016C-42F1-BCE0-1DF1A6ED3C51}">
      <dgm:prSet/>
      <dgm:spPr/>
      <dgm:t>
        <a:bodyPr/>
        <a:lstStyle/>
        <a:p>
          <a:endParaRPr lang="en-IN"/>
        </a:p>
      </dgm:t>
    </dgm:pt>
    <dgm:pt modelId="{F78F25BA-8690-42E9-BCE2-524BB0BA0DDF}" type="sibTrans" cxnId="{086C084D-016C-42F1-BCE0-1DF1A6ED3C51}">
      <dgm:prSet/>
      <dgm:spPr/>
      <dgm:t>
        <a:bodyPr/>
        <a:lstStyle/>
        <a:p>
          <a:endParaRPr lang="en-IN"/>
        </a:p>
      </dgm:t>
    </dgm:pt>
    <dgm:pt modelId="{B3F85552-591C-4A66-B9A5-E8CEFAEA49DE}">
      <dgm:prSet/>
      <dgm:spPr/>
      <dgm:t>
        <a:bodyPr/>
        <a:lstStyle/>
        <a:p>
          <a:r>
            <a:rPr lang="en-IN" b="0" i="0"/>
            <a:t>Low rates support returns; high rates amplify risk</a:t>
          </a:r>
          <a:endParaRPr lang="en-IN"/>
        </a:p>
      </dgm:t>
    </dgm:pt>
    <dgm:pt modelId="{4D34407C-B165-443F-AE53-B4238FEDA750}" type="parTrans" cxnId="{6151C2E2-E48C-4505-988C-8136BD94DBE1}">
      <dgm:prSet/>
      <dgm:spPr/>
      <dgm:t>
        <a:bodyPr/>
        <a:lstStyle/>
        <a:p>
          <a:endParaRPr lang="en-IN"/>
        </a:p>
      </dgm:t>
    </dgm:pt>
    <dgm:pt modelId="{CC2770AA-ED84-4EE1-9ECC-0EA841C5A144}" type="sibTrans" cxnId="{6151C2E2-E48C-4505-988C-8136BD94DBE1}">
      <dgm:prSet/>
      <dgm:spPr/>
      <dgm:t>
        <a:bodyPr/>
        <a:lstStyle/>
        <a:p>
          <a:endParaRPr lang="en-IN"/>
        </a:p>
      </dgm:t>
    </dgm:pt>
    <dgm:pt modelId="{C45119BD-1C79-4102-8F29-B6AA5274478A}">
      <dgm:prSet/>
      <dgm:spPr/>
      <dgm:t>
        <a:bodyPr/>
        <a:lstStyle/>
        <a:p>
          <a:r>
            <a:rPr lang="en-IN" b="0" i="0" dirty="0"/>
            <a:t>Regime analysis explains weak correlations</a:t>
          </a:r>
          <a:endParaRPr lang="en-IN" dirty="0"/>
        </a:p>
      </dgm:t>
    </dgm:pt>
    <dgm:pt modelId="{EC96CF9B-DFD7-4CD0-918F-21D107D7D8F3}" type="parTrans" cxnId="{D47659CC-605D-4732-B8D0-CEEDABEEF872}">
      <dgm:prSet/>
      <dgm:spPr/>
      <dgm:t>
        <a:bodyPr/>
        <a:lstStyle/>
        <a:p>
          <a:endParaRPr lang="en-IN"/>
        </a:p>
      </dgm:t>
    </dgm:pt>
    <dgm:pt modelId="{E17B4B78-EFA4-489F-B08B-55CFD479A17E}" type="sibTrans" cxnId="{D47659CC-605D-4732-B8D0-CEEDABEEF872}">
      <dgm:prSet/>
      <dgm:spPr/>
      <dgm:t>
        <a:bodyPr/>
        <a:lstStyle/>
        <a:p>
          <a:endParaRPr lang="en-IN"/>
        </a:p>
      </dgm:t>
    </dgm:pt>
    <dgm:pt modelId="{8AA5519B-530A-48AC-A36D-3E5CC800AD99}">
      <dgm:prSet/>
      <dgm:spPr/>
      <dgm:t>
        <a:bodyPr/>
        <a:lstStyle/>
        <a:p>
          <a:r>
            <a:rPr lang="en-IN" b="0" i="0"/>
            <a:t>Provides clearer market interpretation</a:t>
          </a:r>
          <a:endParaRPr lang="en-IN"/>
        </a:p>
      </dgm:t>
    </dgm:pt>
    <dgm:pt modelId="{948EF9ED-F01B-4C82-80EF-DDA6AC9424D0}" type="parTrans" cxnId="{F6BBB644-AD66-4F08-B6A5-EBD3F62E5E55}">
      <dgm:prSet/>
      <dgm:spPr/>
      <dgm:t>
        <a:bodyPr/>
        <a:lstStyle/>
        <a:p>
          <a:endParaRPr lang="en-IN"/>
        </a:p>
      </dgm:t>
    </dgm:pt>
    <dgm:pt modelId="{FD230964-7791-42D5-845C-B65CACE85D47}" type="sibTrans" cxnId="{F6BBB644-AD66-4F08-B6A5-EBD3F62E5E55}">
      <dgm:prSet/>
      <dgm:spPr/>
      <dgm:t>
        <a:bodyPr/>
        <a:lstStyle/>
        <a:p>
          <a:endParaRPr lang="en-IN"/>
        </a:p>
      </dgm:t>
    </dgm:pt>
    <dgm:pt modelId="{D5234431-A1F0-48FD-9057-420C19512A9C}" type="pres">
      <dgm:prSet presAssocID="{68545032-186D-4CE4-A794-4752C2FA4E28}" presName="CompostProcess" presStyleCnt="0">
        <dgm:presLayoutVars>
          <dgm:dir/>
          <dgm:resizeHandles val="exact"/>
        </dgm:presLayoutVars>
      </dgm:prSet>
      <dgm:spPr/>
    </dgm:pt>
    <dgm:pt modelId="{90B2E526-0031-482A-857B-C7E0F5C9F28B}" type="pres">
      <dgm:prSet presAssocID="{68545032-186D-4CE4-A794-4752C2FA4E28}" presName="arrow" presStyleLbl="bgShp" presStyleIdx="0" presStyleCnt="1"/>
      <dgm:spPr/>
    </dgm:pt>
    <dgm:pt modelId="{130F119E-E0E8-46E9-81B8-D0E5ABD9A087}" type="pres">
      <dgm:prSet presAssocID="{68545032-186D-4CE4-A794-4752C2FA4E28}" presName="linearProcess" presStyleCnt="0"/>
      <dgm:spPr/>
    </dgm:pt>
    <dgm:pt modelId="{D9E69E53-21BA-42A6-8C58-0A60783C61E7}" type="pres">
      <dgm:prSet presAssocID="{E29CE758-0908-4A0A-94A3-B47304CAC768}" presName="textNode" presStyleLbl="node1" presStyleIdx="0" presStyleCnt="4">
        <dgm:presLayoutVars>
          <dgm:bulletEnabled val="1"/>
        </dgm:presLayoutVars>
      </dgm:prSet>
      <dgm:spPr/>
    </dgm:pt>
    <dgm:pt modelId="{75446CB6-982F-465A-806E-145405505C98}" type="pres">
      <dgm:prSet presAssocID="{F78F25BA-8690-42E9-BCE2-524BB0BA0DDF}" presName="sibTrans" presStyleCnt="0"/>
      <dgm:spPr/>
    </dgm:pt>
    <dgm:pt modelId="{D6FBE000-6F58-47C6-9AD0-9811D5C80F7F}" type="pres">
      <dgm:prSet presAssocID="{B3F85552-591C-4A66-B9A5-E8CEFAEA49DE}" presName="textNode" presStyleLbl="node1" presStyleIdx="1" presStyleCnt="4">
        <dgm:presLayoutVars>
          <dgm:bulletEnabled val="1"/>
        </dgm:presLayoutVars>
      </dgm:prSet>
      <dgm:spPr/>
    </dgm:pt>
    <dgm:pt modelId="{0F034A67-CC75-4CD0-896F-ED56E156104C}" type="pres">
      <dgm:prSet presAssocID="{CC2770AA-ED84-4EE1-9ECC-0EA841C5A144}" presName="sibTrans" presStyleCnt="0"/>
      <dgm:spPr/>
    </dgm:pt>
    <dgm:pt modelId="{4BE911F6-3AC1-4929-9C06-A2B9F6985511}" type="pres">
      <dgm:prSet presAssocID="{C45119BD-1C79-4102-8F29-B6AA5274478A}" presName="textNode" presStyleLbl="node1" presStyleIdx="2" presStyleCnt="4">
        <dgm:presLayoutVars>
          <dgm:bulletEnabled val="1"/>
        </dgm:presLayoutVars>
      </dgm:prSet>
      <dgm:spPr/>
    </dgm:pt>
    <dgm:pt modelId="{251BF305-0829-45C8-86ED-B7F4D3AD6889}" type="pres">
      <dgm:prSet presAssocID="{E17B4B78-EFA4-489F-B08B-55CFD479A17E}" presName="sibTrans" presStyleCnt="0"/>
      <dgm:spPr/>
    </dgm:pt>
    <dgm:pt modelId="{74F3E5FF-D8C9-4E4A-8A90-6CF80FAACBFE}" type="pres">
      <dgm:prSet presAssocID="{8AA5519B-530A-48AC-A36D-3E5CC800AD9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03218B26-407E-4F47-9DC1-384AF4F30D7E}" type="presOf" srcId="{B3F85552-591C-4A66-B9A5-E8CEFAEA49DE}" destId="{D6FBE000-6F58-47C6-9AD0-9811D5C80F7F}" srcOrd="0" destOrd="0" presId="urn:microsoft.com/office/officeart/2005/8/layout/hProcess9"/>
    <dgm:cxn modelId="{F6BBB644-AD66-4F08-B6A5-EBD3F62E5E55}" srcId="{68545032-186D-4CE4-A794-4752C2FA4E28}" destId="{8AA5519B-530A-48AC-A36D-3E5CC800AD99}" srcOrd="3" destOrd="0" parTransId="{948EF9ED-F01B-4C82-80EF-DDA6AC9424D0}" sibTransId="{FD230964-7791-42D5-845C-B65CACE85D47}"/>
    <dgm:cxn modelId="{086C084D-016C-42F1-BCE0-1DF1A6ED3C51}" srcId="{68545032-186D-4CE4-A794-4752C2FA4E28}" destId="{E29CE758-0908-4A0A-94A3-B47304CAC768}" srcOrd="0" destOrd="0" parTransId="{B196EC06-5328-4CCD-9C87-90DDF526A70D}" sibTransId="{F78F25BA-8690-42E9-BCE2-524BB0BA0DDF}"/>
    <dgm:cxn modelId="{D4DEE54F-B231-4F77-9FCC-BE55022D5F89}" type="presOf" srcId="{68545032-186D-4CE4-A794-4752C2FA4E28}" destId="{D5234431-A1F0-48FD-9057-420C19512A9C}" srcOrd="0" destOrd="0" presId="urn:microsoft.com/office/officeart/2005/8/layout/hProcess9"/>
    <dgm:cxn modelId="{AFABD0AC-B8C6-4CFF-9438-0C166D5826DD}" type="presOf" srcId="{8AA5519B-530A-48AC-A36D-3E5CC800AD99}" destId="{74F3E5FF-D8C9-4E4A-8A90-6CF80FAACBFE}" srcOrd="0" destOrd="0" presId="urn:microsoft.com/office/officeart/2005/8/layout/hProcess9"/>
    <dgm:cxn modelId="{662CDBB1-0025-4653-B8F3-FBE1FE56EF2D}" type="presOf" srcId="{E29CE758-0908-4A0A-94A3-B47304CAC768}" destId="{D9E69E53-21BA-42A6-8C58-0A60783C61E7}" srcOrd="0" destOrd="0" presId="urn:microsoft.com/office/officeart/2005/8/layout/hProcess9"/>
    <dgm:cxn modelId="{D47659CC-605D-4732-B8D0-CEEDABEEF872}" srcId="{68545032-186D-4CE4-A794-4752C2FA4E28}" destId="{C45119BD-1C79-4102-8F29-B6AA5274478A}" srcOrd="2" destOrd="0" parTransId="{EC96CF9B-DFD7-4CD0-918F-21D107D7D8F3}" sibTransId="{E17B4B78-EFA4-489F-B08B-55CFD479A17E}"/>
    <dgm:cxn modelId="{5F8CEDCD-5CD4-4E52-A160-FF262795BA2F}" type="presOf" srcId="{C45119BD-1C79-4102-8F29-B6AA5274478A}" destId="{4BE911F6-3AC1-4929-9C06-A2B9F6985511}" srcOrd="0" destOrd="0" presId="urn:microsoft.com/office/officeart/2005/8/layout/hProcess9"/>
    <dgm:cxn modelId="{6151C2E2-E48C-4505-988C-8136BD94DBE1}" srcId="{68545032-186D-4CE4-A794-4752C2FA4E28}" destId="{B3F85552-591C-4A66-B9A5-E8CEFAEA49DE}" srcOrd="1" destOrd="0" parTransId="{4D34407C-B165-443F-AE53-B4238FEDA750}" sibTransId="{CC2770AA-ED84-4EE1-9ECC-0EA841C5A144}"/>
    <dgm:cxn modelId="{B9F1D10F-F527-47C8-A2F3-056F13ED9A5E}" type="presParOf" srcId="{D5234431-A1F0-48FD-9057-420C19512A9C}" destId="{90B2E526-0031-482A-857B-C7E0F5C9F28B}" srcOrd="0" destOrd="0" presId="urn:microsoft.com/office/officeart/2005/8/layout/hProcess9"/>
    <dgm:cxn modelId="{16376C79-1BD2-49CD-8DA2-B325A6EEFEC9}" type="presParOf" srcId="{D5234431-A1F0-48FD-9057-420C19512A9C}" destId="{130F119E-E0E8-46E9-81B8-D0E5ABD9A087}" srcOrd="1" destOrd="0" presId="urn:microsoft.com/office/officeart/2005/8/layout/hProcess9"/>
    <dgm:cxn modelId="{F17CC20D-5DFA-48AF-A738-F7969FA3E394}" type="presParOf" srcId="{130F119E-E0E8-46E9-81B8-D0E5ABD9A087}" destId="{D9E69E53-21BA-42A6-8C58-0A60783C61E7}" srcOrd="0" destOrd="0" presId="urn:microsoft.com/office/officeart/2005/8/layout/hProcess9"/>
    <dgm:cxn modelId="{FD96599E-1211-423E-B0BA-47B26B6AD2E2}" type="presParOf" srcId="{130F119E-E0E8-46E9-81B8-D0E5ABD9A087}" destId="{75446CB6-982F-465A-806E-145405505C98}" srcOrd="1" destOrd="0" presId="urn:microsoft.com/office/officeart/2005/8/layout/hProcess9"/>
    <dgm:cxn modelId="{DB0B37E7-B6A6-41C8-B811-906F03D65D02}" type="presParOf" srcId="{130F119E-E0E8-46E9-81B8-D0E5ABD9A087}" destId="{D6FBE000-6F58-47C6-9AD0-9811D5C80F7F}" srcOrd="2" destOrd="0" presId="urn:microsoft.com/office/officeart/2005/8/layout/hProcess9"/>
    <dgm:cxn modelId="{4AC607FE-3607-48D9-8849-DEB7390EAFA3}" type="presParOf" srcId="{130F119E-E0E8-46E9-81B8-D0E5ABD9A087}" destId="{0F034A67-CC75-4CD0-896F-ED56E156104C}" srcOrd="3" destOrd="0" presId="urn:microsoft.com/office/officeart/2005/8/layout/hProcess9"/>
    <dgm:cxn modelId="{62045AB9-33F7-4BD5-974F-D5A3E59A1A12}" type="presParOf" srcId="{130F119E-E0E8-46E9-81B8-D0E5ABD9A087}" destId="{4BE911F6-3AC1-4929-9C06-A2B9F6985511}" srcOrd="4" destOrd="0" presId="urn:microsoft.com/office/officeart/2005/8/layout/hProcess9"/>
    <dgm:cxn modelId="{81F8211C-D507-4853-B71D-C25222F0183B}" type="presParOf" srcId="{130F119E-E0E8-46E9-81B8-D0E5ABD9A087}" destId="{251BF305-0829-45C8-86ED-B7F4D3AD6889}" srcOrd="5" destOrd="0" presId="urn:microsoft.com/office/officeart/2005/8/layout/hProcess9"/>
    <dgm:cxn modelId="{42B5B98C-3C55-47F6-915B-DB049B8334D9}" type="presParOf" srcId="{130F119E-E0E8-46E9-81B8-D0E5ABD9A087}" destId="{74F3E5FF-D8C9-4E4A-8A90-6CF80FAACBFE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C9E66-7728-441B-B6E4-13876FD234E6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9FE5422-541A-4C3B-B4F6-452DE91A2401}">
      <dgm:prSet/>
      <dgm:spPr/>
      <dgm:t>
        <a:bodyPr/>
        <a:lstStyle/>
        <a:p>
          <a:r>
            <a:rPr lang="en-IN" b="0" i="0"/>
            <a:t>Add inflation &amp; GDP indicators</a:t>
          </a:r>
          <a:endParaRPr lang="en-IN"/>
        </a:p>
      </dgm:t>
    </dgm:pt>
    <dgm:pt modelId="{632E3799-DA15-4F41-BF49-4A65AB9EDF9F}" type="parTrans" cxnId="{1464510C-D3B8-49DA-A9FF-4690DA1DDA4F}">
      <dgm:prSet/>
      <dgm:spPr/>
      <dgm:t>
        <a:bodyPr/>
        <a:lstStyle/>
        <a:p>
          <a:endParaRPr lang="en-IN"/>
        </a:p>
      </dgm:t>
    </dgm:pt>
    <dgm:pt modelId="{80B23913-88DB-4D90-9A64-F216988C899A}" type="sibTrans" cxnId="{1464510C-D3B8-49DA-A9FF-4690DA1DDA4F}">
      <dgm:prSet/>
      <dgm:spPr/>
      <dgm:t>
        <a:bodyPr/>
        <a:lstStyle/>
        <a:p>
          <a:endParaRPr lang="en-IN"/>
        </a:p>
      </dgm:t>
    </dgm:pt>
    <dgm:pt modelId="{91598C4D-8D2D-4C84-AC30-FD3EDB5CF94B}">
      <dgm:prSet/>
      <dgm:spPr/>
      <dgm:t>
        <a:bodyPr/>
        <a:lstStyle/>
        <a:p>
          <a:r>
            <a:rPr lang="en-IN" b="0" i="0"/>
            <a:t>Extend to sector-level analysis</a:t>
          </a:r>
          <a:endParaRPr lang="en-IN"/>
        </a:p>
      </dgm:t>
    </dgm:pt>
    <dgm:pt modelId="{B04660A9-753A-4E92-865E-3F3DCD6189EC}" type="parTrans" cxnId="{4A10154A-5EA6-4924-A440-1ABA15C6A47E}">
      <dgm:prSet/>
      <dgm:spPr/>
      <dgm:t>
        <a:bodyPr/>
        <a:lstStyle/>
        <a:p>
          <a:endParaRPr lang="en-IN"/>
        </a:p>
      </dgm:t>
    </dgm:pt>
    <dgm:pt modelId="{59EDD067-538E-408B-8253-AE5C631C99FC}" type="sibTrans" cxnId="{4A10154A-5EA6-4924-A440-1ABA15C6A47E}">
      <dgm:prSet/>
      <dgm:spPr/>
      <dgm:t>
        <a:bodyPr/>
        <a:lstStyle/>
        <a:p>
          <a:endParaRPr lang="en-IN"/>
        </a:p>
      </dgm:t>
    </dgm:pt>
    <dgm:pt modelId="{29BCD460-CF6D-48C6-8374-6B914A9C5800}">
      <dgm:prSet/>
      <dgm:spPr/>
      <dgm:t>
        <a:bodyPr/>
        <a:lstStyle/>
        <a:p>
          <a:r>
            <a:rPr lang="en-IN" b="0" i="0"/>
            <a:t>Predict regime shifts using ML models</a:t>
          </a:r>
          <a:endParaRPr lang="en-IN"/>
        </a:p>
      </dgm:t>
    </dgm:pt>
    <dgm:pt modelId="{CAB6B8B4-56E1-456D-9C4C-EC18144FF330}" type="parTrans" cxnId="{115F01F1-F900-48DA-9B58-8B15FF8C1FA2}">
      <dgm:prSet/>
      <dgm:spPr/>
      <dgm:t>
        <a:bodyPr/>
        <a:lstStyle/>
        <a:p>
          <a:endParaRPr lang="en-IN"/>
        </a:p>
      </dgm:t>
    </dgm:pt>
    <dgm:pt modelId="{0490D6A7-6736-452E-8538-128FBA3E9699}" type="sibTrans" cxnId="{115F01F1-F900-48DA-9B58-8B15FF8C1FA2}">
      <dgm:prSet/>
      <dgm:spPr/>
      <dgm:t>
        <a:bodyPr/>
        <a:lstStyle/>
        <a:p>
          <a:endParaRPr lang="en-IN"/>
        </a:p>
      </dgm:t>
    </dgm:pt>
    <dgm:pt modelId="{F7B05AE0-6283-41C6-89A2-66A250EFE262}" type="pres">
      <dgm:prSet presAssocID="{CFAC9E66-7728-441B-B6E4-13876FD234E6}" presName="compositeShape" presStyleCnt="0">
        <dgm:presLayoutVars>
          <dgm:dir/>
          <dgm:resizeHandles/>
        </dgm:presLayoutVars>
      </dgm:prSet>
      <dgm:spPr/>
    </dgm:pt>
    <dgm:pt modelId="{C740440E-6F26-482B-8AF1-6BD48D649AEE}" type="pres">
      <dgm:prSet presAssocID="{CFAC9E66-7728-441B-B6E4-13876FD234E6}" presName="pyramid" presStyleLbl="node1" presStyleIdx="0" presStyleCnt="1"/>
      <dgm:spPr/>
    </dgm:pt>
    <dgm:pt modelId="{AA07F4BF-9CF4-4EE4-B7FF-57DDBA4C5C27}" type="pres">
      <dgm:prSet presAssocID="{CFAC9E66-7728-441B-B6E4-13876FD234E6}" presName="theList" presStyleCnt="0"/>
      <dgm:spPr/>
    </dgm:pt>
    <dgm:pt modelId="{F9C7D8B8-CE77-4407-8569-92AF9666BE38}" type="pres">
      <dgm:prSet presAssocID="{A9FE5422-541A-4C3B-B4F6-452DE91A2401}" presName="aNode" presStyleLbl="fgAcc1" presStyleIdx="0" presStyleCnt="3">
        <dgm:presLayoutVars>
          <dgm:bulletEnabled val="1"/>
        </dgm:presLayoutVars>
      </dgm:prSet>
      <dgm:spPr/>
    </dgm:pt>
    <dgm:pt modelId="{97B799BE-731D-48AC-9925-DA5E0B5646A9}" type="pres">
      <dgm:prSet presAssocID="{A9FE5422-541A-4C3B-B4F6-452DE91A2401}" presName="aSpace" presStyleCnt="0"/>
      <dgm:spPr/>
    </dgm:pt>
    <dgm:pt modelId="{5C21C9EF-AAAC-4424-858C-3CEB640FDB17}" type="pres">
      <dgm:prSet presAssocID="{91598C4D-8D2D-4C84-AC30-FD3EDB5CF94B}" presName="aNode" presStyleLbl="fgAcc1" presStyleIdx="1" presStyleCnt="3">
        <dgm:presLayoutVars>
          <dgm:bulletEnabled val="1"/>
        </dgm:presLayoutVars>
      </dgm:prSet>
      <dgm:spPr/>
    </dgm:pt>
    <dgm:pt modelId="{07E11267-2799-48C9-A29A-6DB8BEF637B7}" type="pres">
      <dgm:prSet presAssocID="{91598C4D-8D2D-4C84-AC30-FD3EDB5CF94B}" presName="aSpace" presStyleCnt="0"/>
      <dgm:spPr/>
    </dgm:pt>
    <dgm:pt modelId="{614768E1-99C9-4F45-AB72-5B8BF1DADFA1}" type="pres">
      <dgm:prSet presAssocID="{29BCD460-CF6D-48C6-8374-6B914A9C5800}" presName="aNode" presStyleLbl="fgAcc1" presStyleIdx="2" presStyleCnt="3">
        <dgm:presLayoutVars>
          <dgm:bulletEnabled val="1"/>
        </dgm:presLayoutVars>
      </dgm:prSet>
      <dgm:spPr/>
    </dgm:pt>
    <dgm:pt modelId="{3372CE42-D421-447C-8E1E-9BC00F277E3A}" type="pres">
      <dgm:prSet presAssocID="{29BCD460-CF6D-48C6-8374-6B914A9C5800}" presName="aSpace" presStyleCnt="0"/>
      <dgm:spPr/>
    </dgm:pt>
  </dgm:ptLst>
  <dgm:cxnLst>
    <dgm:cxn modelId="{1464510C-D3B8-49DA-A9FF-4690DA1DDA4F}" srcId="{CFAC9E66-7728-441B-B6E4-13876FD234E6}" destId="{A9FE5422-541A-4C3B-B4F6-452DE91A2401}" srcOrd="0" destOrd="0" parTransId="{632E3799-DA15-4F41-BF49-4A65AB9EDF9F}" sibTransId="{80B23913-88DB-4D90-9A64-F216988C899A}"/>
    <dgm:cxn modelId="{114AF633-193F-4D54-B5E4-F3B6E6C66873}" type="presOf" srcId="{A9FE5422-541A-4C3B-B4F6-452DE91A2401}" destId="{F9C7D8B8-CE77-4407-8569-92AF9666BE38}" srcOrd="0" destOrd="0" presId="urn:microsoft.com/office/officeart/2005/8/layout/pyramid2"/>
    <dgm:cxn modelId="{4A10154A-5EA6-4924-A440-1ABA15C6A47E}" srcId="{CFAC9E66-7728-441B-B6E4-13876FD234E6}" destId="{91598C4D-8D2D-4C84-AC30-FD3EDB5CF94B}" srcOrd="1" destOrd="0" parTransId="{B04660A9-753A-4E92-865E-3F3DCD6189EC}" sibTransId="{59EDD067-538E-408B-8253-AE5C631C99FC}"/>
    <dgm:cxn modelId="{95C03A4F-0E9C-4895-B603-5A461EF2C359}" type="presOf" srcId="{29BCD460-CF6D-48C6-8374-6B914A9C5800}" destId="{614768E1-99C9-4F45-AB72-5B8BF1DADFA1}" srcOrd="0" destOrd="0" presId="urn:microsoft.com/office/officeart/2005/8/layout/pyramid2"/>
    <dgm:cxn modelId="{51E6435A-EE18-4B2C-AE5A-066DB450433B}" type="presOf" srcId="{91598C4D-8D2D-4C84-AC30-FD3EDB5CF94B}" destId="{5C21C9EF-AAAC-4424-858C-3CEB640FDB17}" srcOrd="0" destOrd="0" presId="urn:microsoft.com/office/officeart/2005/8/layout/pyramid2"/>
    <dgm:cxn modelId="{D204E68E-3A32-48B6-9487-ADD0028E0916}" type="presOf" srcId="{CFAC9E66-7728-441B-B6E4-13876FD234E6}" destId="{F7B05AE0-6283-41C6-89A2-66A250EFE262}" srcOrd="0" destOrd="0" presId="urn:microsoft.com/office/officeart/2005/8/layout/pyramid2"/>
    <dgm:cxn modelId="{115F01F1-F900-48DA-9B58-8B15FF8C1FA2}" srcId="{CFAC9E66-7728-441B-B6E4-13876FD234E6}" destId="{29BCD460-CF6D-48C6-8374-6B914A9C5800}" srcOrd="2" destOrd="0" parTransId="{CAB6B8B4-56E1-456D-9C4C-EC18144FF330}" sibTransId="{0490D6A7-6736-452E-8538-128FBA3E9699}"/>
    <dgm:cxn modelId="{3791DDAC-0A17-400C-9E46-C521F410618A}" type="presParOf" srcId="{F7B05AE0-6283-41C6-89A2-66A250EFE262}" destId="{C740440E-6F26-482B-8AF1-6BD48D649AEE}" srcOrd="0" destOrd="0" presId="urn:microsoft.com/office/officeart/2005/8/layout/pyramid2"/>
    <dgm:cxn modelId="{40EDA6DD-B449-40F5-86F6-7757A25DE993}" type="presParOf" srcId="{F7B05AE0-6283-41C6-89A2-66A250EFE262}" destId="{AA07F4BF-9CF4-4EE4-B7FF-57DDBA4C5C27}" srcOrd="1" destOrd="0" presId="urn:microsoft.com/office/officeart/2005/8/layout/pyramid2"/>
    <dgm:cxn modelId="{9D9CC662-A1A1-4EBE-95C9-33EDFCF47161}" type="presParOf" srcId="{AA07F4BF-9CF4-4EE4-B7FF-57DDBA4C5C27}" destId="{F9C7D8B8-CE77-4407-8569-92AF9666BE38}" srcOrd="0" destOrd="0" presId="urn:microsoft.com/office/officeart/2005/8/layout/pyramid2"/>
    <dgm:cxn modelId="{B05FC62C-1E8D-48E5-8EB5-28357BBB3CAF}" type="presParOf" srcId="{AA07F4BF-9CF4-4EE4-B7FF-57DDBA4C5C27}" destId="{97B799BE-731D-48AC-9925-DA5E0B5646A9}" srcOrd="1" destOrd="0" presId="urn:microsoft.com/office/officeart/2005/8/layout/pyramid2"/>
    <dgm:cxn modelId="{75C6DDF5-6F4F-4337-A539-AE83E2F643DD}" type="presParOf" srcId="{AA07F4BF-9CF4-4EE4-B7FF-57DDBA4C5C27}" destId="{5C21C9EF-AAAC-4424-858C-3CEB640FDB17}" srcOrd="2" destOrd="0" presId="urn:microsoft.com/office/officeart/2005/8/layout/pyramid2"/>
    <dgm:cxn modelId="{9E813BF8-231D-4752-AC8A-0C99E1A550FD}" type="presParOf" srcId="{AA07F4BF-9CF4-4EE4-B7FF-57DDBA4C5C27}" destId="{07E11267-2799-48C9-A29A-6DB8BEF637B7}" srcOrd="3" destOrd="0" presId="urn:microsoft.com/office/officeart/2005/8/layout/pyramid2"/>
    <dgm:cxn modelId="{FF280229-7B65-4882-8CD2-B1B09E4BD143}" type="presParOf" srcId="{AA07F4BF-9CF4-4EE4-B7FF-57DDBA4C5C27}" destId="{614768E1-99C9-4F45-AB72-5B8BF1DADFA1}" srcOrd="4" destOrd="0" presId="urn:microsoft.com/office/officeart/2005/8/layout/pyramid2"/>
    <dgm:cxn modelId="{AE1918FF-3E5D-424E-A797-3E169BE6C1CE}" type="presParOf" srcId="{AA07F4BF-9CF4-4EE4-B7FF-57DDBA4C5C27}" destId="{3372CE42-D421-447C-8E1E-9BC00F277E3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2E526-0031-482A-857B-C7E0F5C9F28B}">
      <dsp:nvSpPr>
        <dsp:cNvPr id="0" name=""/>
        <dsp:cNvSpPr/>
      </dsp:nvSpPr>
      <dsp:spPr>
        <a:xfrm>
          <a:off x="557834" y="0"/>
          <a:ext cx="6322121" cy="403134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69E53-21BA-42A6-8C58-0A60783C61E7}">
      <dsp:nvSpPr>
        <dsp:cNvPr id="0" name=""/>
        <dsp:cNvSpPr/>
      </dsp:nvSpPr>
      <dsp:spPr>
        <a:xfrm>
          <a:off x="3722" y="1209402"/>
          <a:ext cx="1790444" cy="1612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Fed rate regimes matter more than rate levels</a:t>
          </a:r>
          <a:endParaRPr lang="en-IN" sz="1700" kern="1200"/>
        </a:p>
      </dsp:txBody>
      <dsp:txXfrm>
        <a:off x="82440" y="1288120"/>
        <a:ext cx="1633008" cy="1455101"/>
      </dsp:txXfrm>
    </dsp:sp>
    <dsp:sp modelId="{D6FBE000-6F58-47C6-9AD0-9811D5C80F7F}">
      <dsp:nvSpPr>
        <dsp:cNvPr id="0" name=""/>
        <dsp:cNvSpPr/>
      </dsp:nvSpPr>
      <dsp:spPr>
        <a:xfrm>
          <a:off x="1883689" y="1209402"/>
          <a:ext cx="1790444" cy="1612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Low rates support returns; high rates amplify risk</a:t>
          </a:r>
          <a:endParaRPr lang="en-IN" sz="1700" kern="1200"/>
        </a:p>
      </dsp:txBody>
      <dsp:txXfrm>
        <a:off x="1962407" y="1288120"/>
        <a:ext cx="1633008" cy="1455101"/>
      </dsp:txXfrm>
    </dsp:sp>
    <dsp:sp modelId="{4BE911F6-3AC1-4929-9C06-A2B9F6985511}">
      <dsp:nvSpPr>
        <dsp:cNvPr id="0" name=""/>
        <dsp:cNvSpPr/>
      </dsp:nvSpPr>
      <dsp:spPr>
        <a:xfrm>
          <a:off x="3763656" y="1209402"/>
          <a:ext cx="1790444" cy="1612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 dirty="0"/>
            <a:t>Regime analysis explains weak correlations</a:t>
          </a:r>
          <a:endParaRPr lang="en-IN" sz="1700" kern="1200" dirty="0"/>
        </a:p>
      </dsp:txBody>
      <dsp:txXfrm>
        <a:off x="3842374" y="1288120"/>
        <a:ext cx="1633008" cy="1455101"/>
      </dsp:txXfrm>
    </dsp:sp>
    <dsp:sp modelId="{74F3E5FF-D8C9-4E4A-8A90-6CF80FAACBFE}">
      <dsp:nvSpPr>
        <dsp:cNvPr id="0" name=""/>
        <dsp:cNvSpPr/>
      </dsp:nvSpPr>
      <dsp:spPr>
        <a:xfrm>
          <a:off x="5643622" y="1209402"/>
          <a:ext cx="1790444" cy="16125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0" i="0" kern="1200"/>
            <a:t>Provides clearer market interpretation</a:t>
          </a:r>
          <a:endParaRPr lang="en-IN" sz="1700" kern="1200"/>
        </a:p>
      </dsp:txBody>
      <dsp:txXfrm>
        <a:off x="5722340" y="1288120"/>
        <a:ext cx="1633008" cy="14551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0440E-6F26-482B-8AF1-6BD48D649AEE}">
      <dsp:nvSpPr>
        <dsp:cNvPr id="0" name=""/>
        <dsp:cNvSpPr/>
      </dsp:nvSpPr>
      <dsp:spPr>
        <a:xfrm>
          <a:off x="1175266" y="0"/>
          <a:ext cx="3918857" cy="3918857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7D8B8-CE77-4407-8569-92AF9666BE38}">
      <dsp:nvSpPr>
        <dsp:cNvPr id="0" name=""/>
        <dsp:cNvSpPr/>
      </dsp:nvSpPr>
      <dsp:spPr>
        <a:xfrm>
          <a:off x="3134694" y="393990"/>
          <a:ext cx="2547257" cy="9276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Add inflation &amp; GDP indicators</a:t>
          </a:r>
          <a:endParaRPr lang="en-IN" sz="1800" kern="1200"/>
        </a:p>
      </dsp:txBody>
      <dsp:txXfrm>
        <a:off x="3179979" y="439275"/>
        <a:ext cx="2456687" cy="837096"/>
      </dsp:txXfrm>
    </dsp:sp>
    <dsp:sp modelId="{5C21C9EF-AAAC-4424-858C-3CEB640FDB17}">
      <dsp:nvSpPr>
        <dsp:cNvPr id="0" name=""/>
        <dsp:cNvSpPr/>
      </dsp:nvSpPr>
      <dsp:spPr>
        <a:xfrm>
          <a:off x="3134694" y="1437615"/>
          <a:ext cx="2547257" cy="9276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Extend to sector-level analysis</a:t>
          </a:r>
          <a:endParaRPr lang="en-IN" sz="1800" kern="1200"/>
        </a:p>
      </dsp:txBody>
      <dsp:txXfrm>
        <a:off x="3179979" y="1482900"/>
        <a:ext cx="2456687" cy="837096"/>
      </dsp:txXfrm>
    </dsp:sp>
    <dsp:sp modelId="{614768E1-99C9-4F45-AB72-5B8BF1DADFA1}">
      <dsp:nvSpPr>
        <dsp:cNvPr id="0" name=""/>
        <dsp:cNvSpPr/>
      </dsp:nvSpPr>
      <dsp:spPr>
        <a:xfrm>
          <a:off x="3134694" y="2481241"/>
          <a:ext cx="2547257" cy="92766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Predict regime shifts using ML models</a:t>
          </a:r>
          <a:endParaRPr lang="en-IN" sz="1800" kern="1200"/>
        </a:p>
      </dsp:txBody>
      <dsp:txXfrm>
        <a:off x="3179979" y="2526526"/>
        <a:ext cx="2456687" cy="837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8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7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2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5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7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31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9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7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8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0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5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5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82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39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68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58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8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7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5711" y="1000053"/>
            <a:ext cx="5654282" cy="2550877"/>
          </a:xfrm>
        </p:spPr>
        <p:txBody>
          <a:bodyPr>
            <a:normAutofit/>
          </a:bodyPr>
          <a:lstStyle/>
          <a:p>
            <a:r>
              <a:rPr dirty="0"/>
              <a:t>Impact of U.S. Fed Rate Regimes on Market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9671" y="4197246"/>
            <a:ext cx="5917679" cy="1843790"/>
          </a:xfrm>
        </p:spPr>
        <p:txBody>
          <a:bodyPr>
            <a:noAutofit/>
          </a:bodyPr>
          <a:lstStyle/>
          <a:p>
            <a:endParaRPr sz="2000" dirty="0"/>
          </a:p>
          <a:p>
            <a:r>
              <a:rPr sz="2000" dirty="0"/>
              <a:t>Prepared by: Srajal Dubey</a:t>
            </a:r>
          </a:p>
          <a:p>
            <a:r>
              <a:rPr sz="2000" dirty="0"/>
              <a:t>Tools: Python | Power BI | Excel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F8E7A-FB90-2E27-94C9-B8E5728CEAAA}"/>
              </a:ext>
            </a:extLst>
          </p:cNvPr>
          <p:cNvSpPr txBox="1"/>
          <p:nvPr/>
        </p:nvSpPr>
        <p:spPr>
          <a:xfrm>
            <a:off x="2806908" y="3599394"/>
            <a:ext cx="353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S&amp;P 500 &amp; NIFTY (2000–2025)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Interest rate changes influence global capital markets</a:t>
            </a:r>
          </a:p>
          <a:p>
            <a:r>
              <a:rPr dirty="0"/>
              <a:t>Simple correlation often fails to explain market behavior</a:t>
            </a:r>
          </a:p>
          <a:p>
            <a:r>
              <a:rPr dirty="0"/>
              <a:t> Investors struggle to interpret different rate cycles</a:t>
            </a:r>
          </a:p>
          <a:p>
            <a:endParaRPr dirty="0"/>
          </a:p>
          <a:p>
            <a:r>
              <a:rPr dirty="0"/>
              <a:t>Objective:</a:t>
            </a:r>
          </a:p>
          <a:p>
            <a:r>
              <a:rPr dirty="0"/>
              <a:t>Analyze how Fed rate regimes impact equity returns and volatility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Datasets Used:</a:t>
            </a:r>
          </a:p>
          <a:p>
            <a:r>
              <a:rPr dirty="0"/>
              <a:t>U.S. Fed Funds Rate (monthly)</a:t>
            </a:r>
          </a:p>
          <a:p>
            <a:r>
              <a:rPr dirty="0"/>
              <a:t>S&amp;P 500 monthly returns</a:t>
            </a:r>
          </a:p>
          <a:p>
            <a:r>
              <a:rPr dirty="0"/>
              <a:t>NIFTY 50 monthly returns</a:t>
            </a:r>
          </a:p>
          <a:p>
            <a:endParaRPr dirty="0"/>
          </a:p>
          <a:p>
            <a:r>
              <a:rPr dirty="0"/>
              <a:t>Tools:</a:t>
            </a:r>
          </a:p>
          <a:p>
            <a:r>
              <a:rPr dirty="0"/>
              <a:t>Python, Excel,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Monthly alignment of datasets</a:t>
            </a:r>
          </a:p>
          <a:p>
            <a:r>
              <a:rPr dirty="0"/>
              <a:t>2. Calculation of monthly returns</a:t>
            </a:r>
          </a:p>
          <a:p>
            <a:r>
              <a:rPr dirty="0"/>
              <a:t>3. Fed rate regime classification: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lang="en-US" dirty="0"/>
              <a:t>       </a:t>
            </a:r>
            <a:r>
              <a:rPr dirty="0"/>
              <a:t> • Low (&lt;2%)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   • Medium (2–4%)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   • High (&gt;4%)</a:t>
            </a:r>
          </a:p>
          <a:p>
            <a:r>
              <a:rPr dirty="0"/>
              <a:t>4. Regime-wise return &amp; volatility analysis</a:t>
            </a:r>
          </a:p>
          <a:p>
            <a:r>
              <a:rPr dirty="0"/>
              <a:t>5. Crisis period evaluation (2008, 2020)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AE6C9-F08A-7BB8-AF25-E6B20C13A76F}"/>
              </a:ext>
            </a:extLst>
          </p:cNvPr>
          <p:cNvSpPr txBox="1"/>
          <p:nvPr/>
        </p:nvSpPr>
        <p:spPr>
          <a:xfrm>
            <a:off x="742013" y="967828"/>
            <a:ext cx="7412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Data Validation &amp; Assumptions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0E69E-68C3-8A5A-6B8B-D8BE2807B6B4}"/>
              </a:ext>
            </a:extLst>
          </p:cNvPr>
          <p:cNvSpPr txBox="1"/>
          <p:nvPr/>
        </p:nvSpPr>
        <p:spPr>
          <a:xfrm>
            <a:off x="742013" y="2343254"/>
            <a:ext cx="7777873" cy="3822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FE469-7517-0152-F2A8-67AE5F3F9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945789" cy="3530600"/>
          </a:xfrm>
        </p:spPr>
        <p:txBody>
          <a:bodyPr/>
          <a:lstStyle/>
          <a:p>
            <a:pPr lvl="0"/>
            <a:r>
              <a:rPr lang="en-US" dirty="0"/>
              <a:t>All datasets aligned to monthly frequency</a:t>
            </a:r>
            <a:endParaRPr lang="en-IN" dirty="0"/>
          </a:p>
          <a:p>
            <a:pPr lvl="0"/>
            <a:r>
              <a:rPr lang="en-US" dirty="0"/>
              <a:t>Simple arithmetic averages used (not CAGR)</a:t>
            </a:r>
            <a:endParaRPr lang="en-IN" dirty="0"/>
          </a:p>
          <a:p>
            <a:pPr lvl="0"/>
            <a:r>
              <a:rPr lang="en-US" dirty="0"/>
              <a:t>Volatility measured as 12-month rolling standard deviation</a:t>
            </a:r>
            <a:endParaRPr lang="en-IN" dirty="0"/>
          </a:p>
          <a:p>
            <a:pPr lvl="0"/>
            <a:r>
              <a:rPr lang="en-US" dirty="0"/>
              <a:t>Analysis assumes public, inflation-unadjusted index returns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70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E908-102D-E2C2-2DF5-BED217BA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BI Dashboard Overview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ED7D8B-5F43-2BCC-F2B0-FB66D73FE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6514"/>
            <a:ext cx="9144000" cy="384748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F6ECE8-96C0-47B0-8E54-41380EA55DB9}"/>
              </a:ext>
            </a:extLst>
          </p:cNvPr>
          <p:cNvSpPr txBox="1"/>
          <p:nvPr/>
        </p:nvSpPr>
        <p:spPr>
          <a:xfrm>
            <a:off x="0" y="5930902"/>
            <a:ext cx="91440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dashboard visualizes the impact of U.S. Fed rate regimes on equity market returns and volatility, highlighting regime-based behavior and crisis periods.</a:t>
            </a:r>
          </a:p>
          <a:p>
            <a:r>
              <a:rPr lang="en-IN" dirty="0"/>
              <a:t>Data period: 2000–2025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49A1D-EFFA-0AD8-3809-BE1414754DDE}"/>
              </a:ext>
            </a:extLst>
          </p:cNvPr>
          <p:cNvSpPr txBox="1"/>
          <p:nvPr/>
        </p:nvSpPr>
        <p:spPr>
          <a:xfrm>
            <a:off x="0" y="5662282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Volatility represents </a:t>
            </a:r>
            <a:r>
              <a:rPr lang="en-US" sz="1600" i="1" dirty="0"/>
              <a:t>12-month rolling standard deviation of monthly returns(not annualized)</a:t>
            </a:r>
            <a:r>
              <a:rPr lang="en-US" sz="1600" dirty="0"/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3388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– Market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Equity returns are strongest in low-rate regimes</a:t>
            </a:r>
          </a:p>
          <a:p>
            <a:r>
              <a:rPr dirty="0"/>
              <a:t>Medium-rate regimes show unstable performance</a:t>
            </a:r>
          </a:p>
          <a:p>
            <a:r>
              <a:rPr dirty="0"/>
              <a:t>High-rate regimes suppress average returns</a:t>
            </a:r>
          </a:p>
          <a:p>
            <a:r>
              <a:rPr dirty="0"/>
              <a:t>Consistent across S&amp;P 500 &amp; NIFTY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–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Volatility increases significantly in high-rate regimes</a:t>
            </a:r>
          </a:p>
          <a:p>
            <a:r>
              <a:rPr dirty="0"/>
              <a:t>Crisis periods amplify volatility beyond rate effects</a:t>
            </a:r>
          </a:p>
          <a:p>
            <a:r>
              <a:rPr dirty="0"/>
              <a:t>Risk rises even when returns appear stable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Crisis Period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2008 Global Financial Crisis: extreme volatility</a:t>
            </a:r>
          </a:p>
          <a:p>
            <a:r>
              <a:rPr dirty="0"/>
              <a:t>2020 COVID shock: sudden market disruption</a:t>
            </a:r>
          </a:p>
          <a:p>
            <a:r>
              <a:rPr dirty="0"/>
              <a:t>Rate levels alone cannot explain crisis behavior</a:t>
            </a:r>
          </a:p>
          <a:p>
            <a:r>
              <a:rPr dirty="0"/>
              <a:t>Volatility is the dominant short-term driver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81" y="838200"/>
            <a:ext cx="6343672" cy="709865"/>
          </a:xfrm>
        </p:spPr>
        <p:txBody>
          <a:bodyPr/>
          <a:lstStyle/>
          <a:p>
            <a:r>
              <a:t>Key Takeaways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ECECCB-07C6-CFD9-A81E-AF8570580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509159"/>
              </p:ext>
            </p:extLst>
          </p:nvPr>
        </p:nvGraphicFramePr>
        <p:xfrm>
          <a:off x="893410" y="2394857"/>
          <a:ext cx="7437790" cy="4031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65000"/>
              </a:schemeClr>
            </a:gs>
            <a:gs pos="100000">
              <a:schemeClr val="bg2">
                <a:shade val="76000"/>
                <a:hueMod val="89000"/>
                <a:satMod val="164000"/>
                <a:lumMod val="56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3E57-30B6-D22D-03E3-806F3710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IN" dirty="0"/>
              <a:t>Limitations of the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689594-C898-09E3-90AA-C61134A3C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1" y="2489200"/>
            <a:ext cx="7597447" cy="3530600"/>
          </a:xfrm>
        </p:spPr>
        <p:txBody>
          <a:bodyPr/>
          <a:lstStyle/>
          <a:p>
            <a:pPr lvl="0"/>
            <a:r>
              <a:rPr lang="en-US" b="0" i="0" baseline="0"/>
              <a:t>Inflation and currency effects are not explicitly modeled</a:t>
            </a:r>
            <a:endParaRPr lang="en-IN"/>
          </a:p>
          <a:p>
            <a:pPr lvl="0"/>
            <a:r>
              <a:rPr lang="en-US" b="0" i="0" baseline="0"/>
              <a:t>Market behavior is influenced by multiple macroeconomic variables</a:t>
            </a:r>
            <a:endParaRPr lang="en-IN"/>
          </a:p>
          <a:p>
            <a:pPr lvl="0"/>
            <a:r>
              <a:rPr lang="en-US" b="0" i="0" baseline="0"/>
              <a:t>Fed rate regimes are descriptive, not predictive</a:t>
            </a:r>
            <a:endParaRPr lang="en-IN"/>
          </a:p>
          <a:p>
            <a:pPr lvl="0"/>
            <a:r>
              <a:rPr lang="en-US" b="0" i="0" baseline="0"/>
              <a:t>Short-term market reactions may differ from long-term trends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684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C8656A-59E4-D814-D468-BA242FA62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523276"/>
              </p:ext>
            </p:extLst>
          </p:nvPr>
        </p:nvGraphicFramePr>
        <p:xfrm>
          <a:off x="1143391" y="2322285"/>
          <a:ext cx="6857218" cy="3918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405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Impact of U.S. Fed Rate Regimes on Market Returns</vt:lpstr>
      <vt:lpstr>Business Problem</vt:lpstr>
      <vt:lpstr>Data &amp; Tools</vt:lpstr>
      <vt:lpstr>Methodology</vt:lpstr>
      <vt:lpstr>PowerPoint Presentation</vt:lpstr>
      <vt:lpstr>Power BI Dashboard Overview</vt:lpstr>
      <vt:lpstr>Key Findings – Market Returns</vt:lpstr>
      <vt:lpstr>Key Findings – Volatility</vt:lpstr>
      <vt:lpstr>Crisis Period Analysis</vt:lpstr>
      <vt:lpstr>Key Takeaways</vt:lpstr>
      <vt:lpstr>Limitations of the Analysis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srajaldubey9@gmail.com</cp:lastModifiedBy>
  <cp:revision>8</cp:revision>
  <dcterms:created xsi:type="dcterms:W3CDTF">2013-01-27T09:14:16Z</dcterms:created>
  <dcterms:modified xsi:type="dcterms:W3CDTF">2026-01-10T13:54:56Z</dcterms:modified>
  <cp:category/>
</cp:coreProperties>
</file>